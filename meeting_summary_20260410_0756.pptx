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7680960" cy="1463040"/>
          </a:xfrm>
          <a:prstGeom prst="rect">
            <a:avLst/>
          </a:prstGeom>
          <a:noFill/>
        </p:spPr>
        <p:txBody>
          <a:bodyPr wrap="square">
            <a:spAutoFit/>
          </a:bodyPr>
          <a:lstStyle/>
          <a:p>
            <a:pPr algn="l"/>
            <a:r>
              <a:rPr sz="3400" b="1">
                <a:solidFill>
                  <a:srgbClr val="FFFFFF"/>
                </a:solidFill>
              </a:rPr>
              <a:t>BrightLane Retail AI Automation Discovery Call</a:t>
            </a:r>
          </a:p>
        </p:txBody>
      </p:sp>
      <p:sp>
        <p:nvSpPr>
          <p:cNvPr id="4" name="TextBox 3"/>
          <p:cNvSpPr txBox="1"/>
          <p:nvPr/>
        </p:nvSpPr>
        <p:spPr>
          <a:xfrm>
            <a:off x="731520" y="3474720"/>
            <a:ext cx="7680960" cy="548640"/>
          </a:xfrm>
          <a:prstGeom prst="rect">
            <a:avLst/>
          </a:prstGeom>
          <a:noFill/>
        </p:spPr>
        <p:txBody>
          <a:bodyPr wrap="none">
            <a:spAutoFit/>
          </a:bodyPr>
          <a:lstStyle/>
          <a:p>
            <a:r>
              <a:rPr sz="1200">
                <a:solidFill>
                  <a:srgbClr val="AAC4E0"/>
                </a:solidFill>
              </a:rPr>
              <a:t>Auto-generated summary  ·  2024-01-15  ·  REQUIRES HUMAN REVIEW</a:t>
            </a:r>
          </a:p>
        </p:txBody>
      </p:sp>
      <p:sp>
        <p:nvSpPr>
          <p:cNvPr id="5" name="TextBox 4"/>
          <p:cNvSpPr txBox="1"/>
          <p:nvPr/>
        </p:nvSpPr>
        <p:spPr>
          <a:xfrm>
            <a:off x="731520" y="4754880"/>
            <a:ext cx="7680960" cy="548640"/>
          </a:xfrm>
          <a:prstGeom prst="rect">
            <a:avLst/>
          </a:prstGeom>
          <a:noFill/>
        </p:spPr>
        <p:txBody>
          <a:bodyPr wrap="none">
            <a:spAutoFit/>
          </a:bodyPr>
          <a:lstStyle/>
          <a:p>
            <a:r>
              <a:rPr sz="1100">
                <a:solidFill>
                  <a:srgbClr val="CCDDEE"/>
                </a:solidFill>
              </a:rPr>
              <a:t>Participants: Sarah Kim  ·  Marcus Lee  ·  Tina Patel  ·  Alex Rivera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640080"/>
          </a:xfrm>
          <a:prstGeom prst="rect">
            <a:avLst/>
          </a:prstGeom>
          <a:noFill/>
        </p:spPr>
        <p:txBody>
          <a:bodyPr wrap="none">
            <a:spAutoFit/>
          </a:bodyPr>
          <a:lstStyle/>
          <a:p>
            <a:r>
              <a:rPr sz="2200" b="1">
                <a:solidFill>
                  <a:srgbClr val="FFFFFF"/>
                </a:solidFill>
              </a:rPr>
              <a:t>Executive Summary</a:t>
            </a:r>
          </a:p>
        </p:txBody>
      </p:sp>
      <p:sp>
        <p:nvSpPr>
          <p:cNvPr id="4" name="TextBox 3"/>
          <p:cNvSpPr txBox="1"/>
          <p:nvPr/>
        </p:nvSpPr>
        <p:spPr>
          <a:xfrm>
            <a:off x="548640" y="1371600"/>
            <a:ext cx="8046720" cy="4114800"/>
          </a:xfrm>
          <a:prstGeom prst="rect">
            <a:avLst/>
          </a:prstGeom>
          <a:noFill/>
        </p:spPr>
        <p:txBody>
          <a:bodyPr wrap="square">
            <a:spAutoFit/>
          </a:bodyPr>
          <a:lstStyle/>
          <a:p>
            <a:r>
              <a:rPr sz="1400">
                <a:solidFill>
                  <a:srgbClr val="222222"/>
                </a:solidFill>
              </a:rPr>
              <a:t>BrightLane Retail, a 14-store specialty retail company, explored AI automation opportunities to address operational inefficiencies in reporting and customer service. The primary focus was weekly operations reporting, where Marcus currently spends 3-4 hours manually consolidating data from multiple systems. The team agreed to pursue a phased approach starting with meeting transcription and automated executive summaries, with customer support automation deferred to phase two.</a:t>
            </a:r>
          </a:p>
          <a:p>
            <a:pPr>
              <a:spcBef>
                <a:spcPts val="2000"/>
              </a:spcBef>
            </a:pPr>
            <a:r>
              <a:rPr sz="1100" i="1">
                <a:solidFill>
                  <a:srgbClr val="888888"/>
                </a:solidFill>
              </a:rPr>
              <a:t>AI note: Transcript was clear and well-structured. Meeting date inferred as the transcript did not specify an explicit date. Participant titles and company details were explicitly stated. All key business requirements, pain points, technical constraints, and success metrics were clearly articulated by stakeholders.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640080"/>
          </a:xfrm>
          <a:prstGeom prst="rect">
            <a:avLst/>
          </a:prstGeom>
          <a:noFill/>
        </p:spPr>
        <p:txBody>
          <a:bodyPr wrap="none">
            <a:spAutoFit/>
          </a:bodyPr>
          <a:lstStyle/>
          <a:p>
            <a:r>
              <a:rPr sz="2200" b="1">
                <a:solidFill>
                  <a:srgbClr val="FFFFFF"/>
                </a:solidFill>
              </a:rPr>
              <a:t>High-Level Objectives</a:t>
            </a:r>
          </a:p>
        </p:txBody>
      </p:sp>
      <p:sp>
        <p:nvSpPr>
          <p:cNvPr id="4" name="Rectangle 3"/>
          <p:cNvSpPr/>
          <p:nvPr/>
        </p:nvSpPr>
        <p:spPr>
          <a:xfrm>
            <a:off x="548640" y="1371600"/>
            <a:ext cx="8046720" cy="1280160"/>
          </a:xfrm>
          <a:prstGeom prst="rect">
            <a:avLst/>
          </a:prstGeom>
          <a:solidFill>
            <a:srgbClr val="F5F5F5"/>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81328"/>
            <a:ext cx="7498079" cy="1051560"/>
          </a:xfrm>
          <a:prstGeom prst="rect">
            <a:avLst/>
          </a:prstGeom>
          <a:noFill/>
        </p:spPr>
        <p:txBody>
          <a:bodyPr wrap="square">
            <a:spAutoFit/>
          </a:bodyPr>
          <a:lstStyle/>
          <a:p>
            <a:r>
              <a:rPr b="1" sz="1300">
                <a:solidFill>
                  <a:srgbClr val="276EB4"/>
                </a:solidFill>
              </a:rPr>
              <a:t>01  </a:t>
            </a:r>
            <a:r>
              <a:rPr b="1" sz="1300">
                <a:solidFill>
                  <a:srgbClr val="222222"/>
                </a:solidFill>
              </a:rPr>
              <a:t>Automate Weekly Operations Reporting Workflow</a:t>
            </a:r>
          </a:p>
          <a:p>
            <a:r>
              <a:rPr sz="1100">
                <a:solidFill>
                  <a:srgbClr val="222222"/>
                </a:solidFill>
              </a:rPr>
              <a:t>Reduce the 25-30 monthly hours spent consolidating POS data, ecommerce metrics, inventory notes, and store manager feedback into leadership reports. The solution should synthesize information, flag priority issues, and provide business context rather than just data compression.</a:t>
            </a:r>
          </a:p>
        </p:txBody>
      </p:sp>
      <p:sp>
        <p:nvSpPr>
          <p:cNvPr id="6" name="Rectangle 5"/>
          <p:cNvSpPr/>
          <p:nvPr/>
        </p:nvSpPr>
        <p:spPr>
          <a:xfrm>
            <a:off x="548640" y="2807208"/>
            <a:ext cx="8046720" cy="1280160"/>
          </a:xfrm>
          <a:prstGeom prst="rect">
            <a:avLst/>
          </a:prstGeom>
          <a:solidFill>
            <a:srgbClr val="F5F5F5"/>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916936"/>
            <a:ext cx="7498079" cy="1051560"/>
          </a:xfrm>
          <a:prstGeom prst="rect">
            <a:avLst/>
          </a:prstGeom>
          <a:noFill/>
        </p:spPr>
        <p:txBody>
          <a:bodyPr wrap="square">
            <a:spAutoFit/>
          </a:bodyPr>
          <a:lstStyle/>
          <a:p>
            <a:r>
              <a:rPr b="1" sz="1300">
                <a:solidFill>
                  <a:srgbClr val="276EB4"/>
                </a:solidFill>
              </a:rPr>
              <a:t>02  </a:t>
            </a:r>
            <a:r>
              <a:rPr b="1" sz="1300">
                <a:solidFill>
                  <a:srgbClr val="222222"/>
                </a:solidFill>
              </a:rPr>
              <a:t>Implement Meeting Intelligence and Action Tracking</a:t>
            </a:r>
          </a:p>
          <a:p>
            <a:r>
              <a:rPr sz="1100">
                <a:solidFill>
                  <a:srgbClr val="222222"/>
                </a:solidFill>
              </a:rPr>
              <a:t>Create a reliable system to transcribe leadership and operations meetings (20-25 monthly), extract action items with clear ownership, and eliminate post-meeting confusion about decisions and responsibilities. Output should include email summaries and editable slide decks.</a:t>
            </a:r>
          </a:p>
        </p:txBody>
      </p:sp>
      <p:sp>
        <p:nvSpPr>
          <p:cNvPr id="8" name="Rectangle 7"/>
          <p:cNvSpPr/>
          <p:nvPr/>
        </p:nvSpPr>
        <p:spPr>
          <a:xfrm>
            <a:off x="548640" y="4242816"/>
            <a:ext cx="8046720" cy="1280160"/>
          </a:xfrm>
          <a:prstGeom prst="rect">
            <a:avLst/>
          </a:prstGeom>
          <a:solidFill>
            <a:srgbClr val="F5F5F5"/>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352544"/>
            <a:ext cx="7498079" cy="1051560"/>
          </a:xfrm>
          <a:prstGeom prst="rect">
            <a:avLst/>
          </a:prstGeom>
          <a:noFill/>
        </p:spPr>
        <p:txBody>
          <a:bodyPr wrap="square">
            <a:spAutoFit/>
          </a:bodyPr>
          <a:lstStyle/>
          <a:p>
            <a:r>
              <a:rPr b="1" sz="1300">
                <a:solidFill>
                  <a:srgbClr val="276EB4"/>
                </a:solidFill>
              </a:rPr>
              <a:t>03  </a:t>
            </a:r>
            <a:r>
              <a:rPr b="1" sz="1300">
                <a:solidFill>
                  <a:srgbClr val="222222"/>
                </a:solidFill>
              </a:rPr>
              <a:t>Establish Foundation for Customer Support Automation</a:t>
            </a:r>
          </a:p>
          <a:p>
            <a:r>
              <a:rPr sz="1100">
                <a:solidFill>
                  <a:srgbClr val="222222"/>
                </a:solidFill>
              </a:rPr>
              <a:t>Prepare for phase-two automation of repetitive customer inquiries (1,500-2,000 monthly messages) by documenting policies, establishing brand voice controls, and designing human-review workflows. Initial focus on extracting support insights to improve upstream merchandising and ecommerce decisions.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640080"/>
          </a:xfrm>
          <a:prstGeom prst="rect">
            <a:avLst/>
          </a:prstGeom>
          <a:noFill/>
        </p:spPr>
        <p:txBody>
          <a:bodyPr wrap="none">
            <a:spAutoFit/>
          </a:bodyPr>
          <a:lstStyle/>
          <a:p>
            <a:r>
              <a:rPr sz="2200" b="1">
                <a:solidFill>
                  <a:srgbClr val="FFFFFF"/>
                </a:solidFill>
              </a:rPr>
              <a:t>Actionable Items</a:t>
            </a:r>
          </a:p>
        </p:txBody>
      </p:sp>
      <p:sp>
        <p:nvSpPr>
          <p:cNvPr id="4" name="Rectangle 3"/>
          <p:cNvSpPr/>
          <p:nvPr/>
        </p:nvSpPr>
        <p:spPr>
          <a:xfrm>
            <a:off x="457200" y="1371600"/>
            <a:ext cx="2011680" cy="365760"/>
          </a:xfrm>
          <a:prstGeom prst="rect">
            <a:avLst/>
          </a:prstGeom>
          <a:solidFill>
            <a:srgbClr val="27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2011680" cy="274320"/>
          </a:xfrm>
          <a:prstGeom prst="rect">
            <a:avLst/>
          </a:prstGeom>
          <a:noFill/>
        </p:spPr>
        <p:txBody>
          <a:bodyPr wrap="none">
            <a:spAutoFit/>
          </a:bodyPr>
          <a:lstStyle/>
          <a:p>
            <a:r>
              <a:rPr b="1" sz="1100">
                <a:solidFill>
                  <a:srgbClr val="FFFFFF"/>
                </a:solidFill>
              </a:rPr>
              <a:t>Owner</a:t>
            </a:r>
          </a:p>
        </p:txBody>
      </p:sp>
      <p:sp>
        <p:nvSpPr>
          <p:cNvPr id="6" name="Rectangle 5"/>
          <p:cNvSpPr/>
          <p:nvPr/>
        </p:nvSpPr>
        <p:spPr>
          <a:xfrm>
            <a:off x="2560320" y="1371600"/>
            <a:ext cx="4297680" cy="365760"/>
          </a:xfrm>
          <a:prstGeom prst="rect">
            <a:avLst/>
          </a:prstGeom>
          <a:solidFill>
            <a:srgbClr val="27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0" y="1417320"/>
            <a:ext cx="4297680" cy="274320"/>
          </a:xfrm>
          <a:prstGeom prst="rect">
            <a:avLst/>
          </a:prstGeom>
          <a:noFill/>
        </p:spPr>
        <p:txBody>
          <a:bodyPr wrap="none">
            <a:spAutoFit/>
          </a:bodyPr>
          <a:lstStyle/>
          <a:p>
            <a:r>
              <a:rPr b="1" sz="1100">
                <a:solidFill>
                  <a:srgbClr val="FFFFFF"/>
                </a:solidFill>
              </a:rPr>
              <a:t>Action</a:t>
            </a:r>
          </a:p>
        </p:txBody>
      </p:sp>
      <p:sp>
        <p:nvSpPr>
          <p:cNvPr id="8" name="Rectangle 7"/>
          <p:cNvSpPr/>
          <p:nvPr/>
        </p:nvSpPr>
        <p:spPr>
          <a:xfrm>
            <a:off x="6949440" y="1371600"/>
            <a:ext cx="1737360" cy="365760"/>
          </a:xfrm>
          <a:prstGeom prst="rect">
            <a:avLst/>
          </a:prstGeom>
          <a:solidFill>
            <a:srgbClr val="276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417320"/>
            <a:ext cx="1737360" cy="274320"/>
          </a:xfrm>
          <a:prstGeom prst="rect">
            <a:avLst/>
          </a:prstGeom>
          <a:noFill/>
        </p:spPr>
        <p:txBody>
          <a:bodyPr wrap="none">
            <a:spAutoFit/>
          </a:bodyPr>
          <a:lstStyle/>
          <a:p>
            <a:r>
              <a:rPr b="1" sz="1100">
                <a:solidFill>
                  <a:srgbClr val="FFFFFF"/>
                </a:solidFill>
              </a:rPr>
              <a:t>Due</a:t>
            </a:r>
          </a:p>
        </p:txBody>
      </p:sp>
      <p:sp>
        <p:nvSpPr>
          <p:cNvPr id="10" name="Rectangle 9"/>
          <p:cNvSpPr/>
          <p:nvPr/>
        </p:nvSpPr>
        <p:spPr>
          <a:xfrm>
            <a:off x="457200" y="1737360"/>
            <a:ext cx="2011680" cy="1143000"/>
          </a:xfrm>
          <a:prstGeom prst="rect">
            <a:avLst/>
          </a:prstGeom>
          <a:solidFill>
            <a:srgbClr val="F5F5F5"/>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28800"/>
            <a:ext cx="1828800" cy="960120"/>
          </a:xfrm>
          <a:prstGeom prst="rect">
            <a:avLst/>
          </a:prstGeom>
          <a:noFill/>
        </p:spPr>
        <p:txBody>
          <a:bodyPr wrap="square">
            <a:spAutoFit/>
          </a:bodyPr>
          <a:lstStyle/>
          <a:p>
            <a:r>
              <a:rPr sz="1100">
                <a:solidFill>
                  <a:srgbClr val="222222"/>
                </a:solidFill>
              </a:rPr>
              <a:t>Alex Rivera</a:t>
            </a:r>
          </a:p>
        </p:txBody>
      </p:sp>
      <p:sp>
        <p:nvSpPr>
          <p:cNvPr id="12" name="Rectangle 11"/>
          <p:cNvSpPr/>
          <p:nvPr/>
        </p:nvSpPr>
        <p:spPr>
          <a:xfrm>
            <a:off x="2560320" y="1737360"/>
            <a:ext cx="4297680" cy="1143000"/>
          </a:xfrm>
          <a:prstGeom prst="rect">
            <a:avLst/>
          </a:prstGeom>
          <a:solidFill>
            <a:srgbClr val="F5F5F5"/>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1760" y="1828800"/>
            <a:ext cx="4114800" cy="960120"/>
          </a:xfrm>
          <a:prstGeom prst="rect">
            <a:avLst/>
          </a:prstGeom>
          <a:noFill/>
        </p:spPr>
        <p:txBody>
          <a:bodyPr wrap="square">
            <a:spAutoFit/>
          </a:bodyPr>
          <a:lstStyle/>
          <a:p>
            <a:r>
              <a:rPr sz="1100">
                <a:solidFill>
                  <a:srgbClr val="222222"/>
                </a:solidFill>
              </a:rPr>
              <a:t>Deliver architecture proposal with two options (lightweight and scalable), rough monthly cost estimates under $1,500, proof-of-concept recommendation using three historical meetings, and documented risks/failure points</a:t>
            </a:r>
          </a:p>
        </p:txBody>
      </p:sp>
      <p:sp>
        <p:nvSpPr>
          <p:cNvPr id="14" name="Rectangle 13"/>
          <p:cNvSpPr/>
          <p:nvPr/>
        </p:nvSpPr>
        <p:spPr>
          <a:xfrm>
            <a:off x="6949440" y="1737360"/>
            <a:ext cx="1737360" cy="1143000"/>
          </a:xfrm>
          <a:prstGeom prst="rect">
            <a:avLst/>
          </a:prstGeom>
          <a:solidFill>
            <a:srgbClr val="F5F5F5"/>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1828800"/>
            <a:ext cx="1554480" cy="960120"/>
          </a:xfrm>
          <a:prstGeom prst="rect">
            <a:avLst/>
          </a:prstGeom>
          <a:noFill/>
        </p:spPr>
        <p:txBody>
          <a:bodyPr wrap="square">
            <a:spAutoFit/>
          </a:bodyPr>
          <a:lstStyle/>
          <a:p>
            <a:r>
              <a:rPr sz="1100">
                <a:solidFill>
                  <a:srgbClr val="222222"/>
                </a:solidFill>
              </a:rPr>
              <a:t>TBD</a:t>
            </a:r>
          </a:p>
        </p:txBody>
      </p:sp>
      <p:sp>
        <p:nvSpPr>
          <p:cNvPr id="16" name="Rectangle 15"/>
          <p:cNvSpPr/>
          <p:nvPr/>
        </p:nvSpPr>
        <p:spPr>
          <a:xfrm>
            <a:off x="457200" y="2880360"/>
            <a:ext cx="2011680" cy="114300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971800"/>
            <a:ext cx="1828800" cy="960120"/>
          </a:xfrm>
          <a:prstGeom prst="rect">
            <a:avLst/>
          </a:prstGeom>
          <a:noFill/>
        </p:spPr>
        <p:txBody>
          <a:bodyPr wrap="square">
            <a:spAutoFit/>
          </a:bodyPr>
          <a:lstStyle/>
          <a:p>
            <a:r>
              <a:rPr sz="1100">
                <a:solidFill>
                  <a:srgbClr val="222222"/>
                </a:solidFill>
              </a:rPr>
              <a:t>Alex Rivera</a:t>
            </a:r>
          </a:p>
        </p:txBody>
      </p:sp>
      <p:sp>
        <p:nvSpPr>
          <p:cNvPr id="18" name="Rectangle 17"/>
          <p:cNvSpPr/>
          <p:nvPr/>
        </p:nvSpPr>
        <p:spPr>
          <a:xfrm>
            <a:off x="2560320" y="2880360"/>
            <a:ext cx="4297680" cy="114300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51760" y="2971800"/>
            <a:ext cx="4114800" cy="960120"/>
          </a:xfrm>
          <a:prstGeom prst="rect">
            <a:avLst/>
          </a:prstGeom>
          <a:noFill/>
        </p:spPr>
        <p:txBody>
          <a:bodyPr wrap="square">
            <a:spAutoFit/>
          </a:bodyPr>
          <a:lstStyle/>
          <a:p>
            <a:r>
              <a:rPr sz="1100">
                <a:solidFill>
                  <a:srgbClr val="222222"/>
                </a:solidFill>
              </a:rPr>
              <a:t>Include phase-two expansion notes for customer support automation use case to support internal business case development</a:t>
            </a:r>
          </a:p>
        </p:txBody>
      </p:sp>
      <p:sp>
        <p:nvSpPr>
          <p:cNvPr id="20" name="Rectangle 19"/>
          <p:cNvSpPr/>
          <p:nvPr/>
        </p:nvSpPr>
        <p:spPr>
          <a:xfrm>
            <a:off x="6949440" y="2880360"/>
            <a:ext cx="1737360" cy="114300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2971800"/>
            <a:ext cx="1554480" cy="960120"/>
          </a:xfrm>
          <a:prstGeom prst="rect">
            <a:avLst/>
          </a:prstGeom>
          <a:noFill/>
        </p:spPr>
        <p:txBody>
          <a:bodyPr wrap="square">
            <a:spAutoFit/>
          </a:bodyPr>
          <a:lstStyle/>
          <a:p>
            <a:r>
              <a:rPr sz="1100">
                <a:solidFill>
                  <a:srgbClr val="222222"/>
                </a:solidFill>
              </a:rPr>
              <a:t>TBD</a:t>
            </a:r>
          </a:p>
        </p:txBody>
      </p:sp>
      <p:sp>
        <p:nvSpPr>
          <p:cNvPr id="22" name="Rectangle 21"/>
          <p:cNvSpPr/>
          <p:nvPr/>
        </p:nvSpPr>
        <p:spPr>
          <a:xfrm>
            <a:off x="457200" y="4023360"/>
            <a:ext cx="2011680" cy="1143000"/>
          </a:xfrm>
          <a:prstGeom prst="rect">
            <a:avLst/>
          </a:prstGeom>
          <a:solidFill>
            <a:srgbClr val="F5F5F5"/>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114800"/>
            <a:ext cx="1828800" cy="960120"/>
          </a:xfrm>
          <a:prstGeom prst="rect">
            <a:avLst/>
          </a:prstGeom>
          <a:noFill/>
        </p:spPr>
        <p:txBody>
          <a:bodyPr wrap="square">
            <a:spAutoFit/>
          </a:bodyPr>
          <a:lstStyle/>
          <a:p>
            <a:r>
              <a:rPr sz="1100">
                <a:solidFill>
                  <a:srgbClr val="222222"/>
                </a:solidFill>
              </a:rPr>
              <a:t>Marcus Lee</a:t>
            </a:r>
          </a:p>
        </p:txBody>
      </p:sp>
      <p:sp>
        <p:nvSpPr>
          <p:cNvPr id="24" name="Rectangle 23"/>
          <p:cNvSpPr/>
          <p:nvPr/>
        </p:nvSpPr>
        <p:spPr>
          <a:xfrm>
            <a:off x="2560320" y="4023360"/>
            <a:ext cx="4297680" cy="1143000"/>
          </a:xfrm>
          <a:prstGeom prst="rect">
            <a:avLst/>
          </a:prstGeom>
          <a:solidFill>
            <a:srgbClr val="F5F5F5"/>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51760" y="4114800"/>
            <a:ext cx="4114800" cy="960120"/>
          </a:xfrm>
          <a:prstGeom prst="rect">
            <a:avLst/>
          </a:prstGeom>
          <a:noFill/>
        </p:spPr>
        <p:txBody>
          <a:bodyPr wrap="square">
            <a:spAutoFit/>
          </a:bodyPr>
          <a:lstStyle/>
          <a:p>
            <a:r>
              <a:rPr sz="1100">
                <a:solidFill>
                  <a:srgbClr val="222222"/>
                </a:solidFill>
              </a:rPr>
              <a:t>Ensure consistent recording of leadership and operations meetings (Google Meet/Zoom) and establish discipline around timely upload of supporting materials</a:t>
            </a:r>
          </a:p>
        </p:txBody>
      </p:sp>
      <p:sp>
        <p:nvSpPr>
          <p:cNvPr id="26" name="Rectangle 25"/>
          <p:cNvSpPr/>
          <p:nvPr/>
        </p:nvSpPr>
        <p:spPr>
          <a:xfrm>
            <a:off x="6949440" y="4023360"/>
            <a:ext cx="1737360" cy="1143000"/>
          </a:xfrm>
          <a:prstGeom prst="rect">
            <a:avLst/>
          </a:prstGeom>
          <a:solidFill>
            <a:srgbClr val="F5F5F5"/>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4114800"/>
            <a:ext cx="1554480" cy="960120"/>
          </a:xfrm>
          <a:prstGeom prst="rect">
            <a:avLst/>
          </a:prstGeom>
          <a:noFill/>
        </p:spPr>
        <p:txBody>
          <a:bodyPr wrap="square">
            <a:spAutoFit/>
          </a:bodyPr>
          <a:lstStyle/>
          <a:p>
            <a:r>
              <a:rPr sz="1100">
                <a:solidFill>
                  <a:srgbClr val="222222"/>
                </a:solidFill>
              </a:rPr>
              <a:t>Before POC begins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058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640080"/>
          </a:xfrm>
          <a:prstGeom prst="rect">
            <a:avLst/>
          </a:prstGeom>
          <a:noFill/>
        </p:spPr>
        <p:txBody>
          <a:bodyPr wrap="none">
            <a:spAutoFit/>
          </a:bodyPr>
          <a:lstStyle/>
          <a:p>
            <a:r>
              <a:rPr sz="2200" b="1">
                <a:solidFill>
                  <a:srgbClr val="FFFFFF"/>
                </a:solidFill>
              </a:rPr>
              <a:t>Next Steps &amp; Risks</a:t>
            </a:r>
          </a:p>
        </p:txBody>
      </p:sp>
      <p:sp>
        <p:nvSpPr>
          <p:cNvPr id="4" name="TextBox 3"/>
          <p:cNvSpPr txBox="1"/>
          <p:nvPr/>
        </p:nvSpPr>
        <p:spPr>
          <a:xfrm>
            <a:off x="548640" y="1280160"/>
            <a:ext cx="8046720" cy="2560320"/>
          </a:xfrm>
          <a:prstGeom prst="rect">
            <a:avLst/>
          </a:prstGeom>
          <a:noFill/>
        </p:spPr>
        <p:txBody>
          <a:bodyPr wrap="square">
            <a:spAutoFit/>
          </a:bodyPr>
          <a:lstStyle/>
          <a:p>
            <a:pPr>
              <a:spcBef>
                <a:spcPts val="500"/>
              </a:spcBef>
            </a:pPr>
            <a:r>
              <a:rPr sz="1300">
                <a:solidFill>
                  <a:srgbClr val="222222"/>
                </a:solidFill>
              </a:rPr>
              <a:t>  1.  Conduct proof-of-concept using three historical meeting recordings plus related weekly reports to test transcription quality, summary consistency, and action-item extraction accuracy</a:t>
            </a:r>
          </a:p>
          <a:p>
            <a:pPr>
              <a:spcBef>
                <a:spcPts val="500"/>
              </a:spcBef>
            </a:pPr>
            <a:r>
              <a:rPr sz="1300">
                <a:solidFill>
                  <a:srgbClr val="222222"/>
                </a:solidFill>
              </a:rPr>
              <a:t>  2.  Establish mandatory human approval workflow for all outputs before broad distribution, with Marcus or Sarah as initial reviewers</a:t>
            </a:r>
          </a:p>
          <a:p>
            <a:pPr>
              <a:spcBef>
                <a:spcPts val="500"/>
              </a:spcBef>
            </a:pPr>
            <a:r>
              <a:rPr sz="1300">
                <a:solidFill>
                  <a:srgbClr val="222222"/>
                </a:solidFill>
              </a:rPr>
              <a:t>  3.  Design intake process using Google Drive shared folder with notification to Slack leadership channel when summary packages are ready for review</a:t>
            </a:r>
          </a:p>
        </p:txBody>
      </p:sp>
      <p:sp>
        <p:nvSpPr>
          <p:cNvPr id="5" name="TextBox 4"/>
          <p:cNvSpPr txBox="1"/>
          <p:nvPr/>
        </p:nvSpPr>
        <p:spPr>
          <a:xfrm>
            <a:off x="548640" y="3931920"/>
            <a:ext cx="8046720" cy="2011680"/>
          </a:xfrm>
          <a:prstGeom prst="rect">
            <a:avLst/>
          </a:prstGeom>
          <a:noFill/>
        </p:spPr>
        <p:txBody>
          <a:bodyPr wrap="square">
            <a:spAutoFit/>
          </a:bodyPr>
          <a:lstStyle/>
          <a:p>
            <a:r>
              <a:rPr b="1" sz="1200">
                <a:solidFill>
                  <a:srgbClr val="C0392B"/>
                </a:solidFill>
              </a:rPr>
              <a:t>Risks &amp; Flags</a:t>
            </a:r>
          </a:p>
          <a:p>
            <a:r>
              <a:rPr sz="1100">
                <a:solidFill>
                  <a:srgbClr val="222222"/>
                </a:solidFill>
              </a:rPr>
              <a:t>  •  Inconsistent input quality: Store managers use multiple formats (Google Form, email, Slack) with varying naming conventions, typos, and structural inconsistency</a:t>
            </a:r>
          </a:p>
          <a:p>
            <a:r>
              <a:rPr sz="1100">
                <a:solidFill>
                  <a:srgbClr val="222222"/>
                </a:solidFill>
              </a:rPr>
              <a:t>  •  Adoption discipline: Success depends on managers consistently uploading materials on time and using agreed formats</a:t>
            </a:r>
          </a:p>
          <a:p>
            <a:r>
              <a:rPr sz="1100">
                <a:solidFill>
                  <a:srgbClr val="222222"/>
                </a:solidFill>
              </a:rPr>
              <a:t>  •  Data fragmentation: Systems not integrated (Shopify, Lightspeed POS, Gorgias, Slack, Google Workspace, semi-adopted inventory tool) requiring manual consolidation</a:t>
            </a:r>
          </a:p>
          <a:p>
            <a:r>
              <a:rPr sz="1100">
                <a:solidFill>
                  <a:srgbClr val="222222"/>
                </a:solidFill>
              </a:rPr>
              <a:t>  •  Limited technical capacity: No internal engineers, only one technically savvy operations analyst to maintain solution long-term</a:t>
            </a:r>
          </a:p>
          <a:p>
            <a:r>
              <a:rPr sz="1100">
                <a:solidFill>
                  <a:srgbClr val="222222"/>
                </a:solidFill>
              </a:rPr>
              <a:t>  •  Brand voice control critical: Customer-facing automation requires careful tone management and cannot risk sending incorrect information</a:t>
            </a:r>
          </a:p>
          <a:p>
            <a:r>
              <a:rPr sz="1100">
                <a:solidFill>
                  <a:srgbClr val="222222"/>
                </a:solidFill>
              </a:rPr>
              <a:t>  •  Q4 holiday timeline pressure: Sarah wants internal reporting automation operational within three months before holiday season stress-tests current systems</a:t>
            </a:r>
          </a:p>
          <a:p>
            <a:r>
              <a:rPr sz="1100">
                <a:solidFill>
                  <a:srgbClr val="222222"/>
                </a:solidFill>
              </a:rPr>
              <a:t>  •  Budget constraint: Must stay under $1,500/month for software costs excluding one-time setup to maintain executive buy-in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